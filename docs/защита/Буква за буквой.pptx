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16e45d3e434852" /><Relationship Type="http://schemas.openxmlformats.org/officeDocument/2006/relationships/extended-properties" Target="/docProps/app.xml" Id="R1246c3921fe74a1c" /><Relationship Type="http://schemas.openxmlformats.org/officeDocument/2006/relationships/officeDocument" Target="/ppt/presentation.xml" Id="Rc36f2b11f93c4c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3172e7625d4a14"/>
  </p:sldMasterIdLst>
  <p:notesMasterIdLst>
    <p:notesMasterId xmlns:r="http://schemas.openxmlformats.org/officeDocument/2006/relationships" r:id="R4f457a1f04114ad4"/>
  </p:notesMasterIdLst>
  <p:sldIdLst>
    <p:sldId xmlns:r="http://schemas.openxmlformats.org/officeDocument/2006/relationships" id="256" r:id="Re7dd7d36336c46c8"/>
    <p:sldId xmlns:r="http://schemas.openxmlformats.org/officeDocument/2006/relationships" id="257" r:id="Rbc3015c01f9348b7"/>
    <p:sldId xmlns:r="http://schemas.openxmlformats.org/officeDocument/2006/relationships" id="258" r:id="R43c8e2b957254114"/>
    <p:sldId xmlns:r="http://schemas.openxmlformats.org/officeDocument/2006/relationships" id="259" r:id="R6e585f0dbe32412e"/>
    <p:sldId xmlns:r="http://schemas.openxmlformats.org/officeDocument/2006/relationships" id="260" r:id="R49ec98cd71b94c7e"/>
    <p:sldId xmlns:r="http://schemas.openxmlformats.org/officeDocument/2006/relationships" id="261" r:id="Ra0fbde59602546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3c15725d9946b5" /><Relationship Type="http://schemas.openxmlformats.org/officeDocument/2006/relationships/slideMaster" Target="/ppt/slideMasters/slideMaster1.xml" Id="Rc93172e7625d4a14" /><Relationship Type="http://schemas.openxmlformats.org/officeDocument/2006/relationships/notesMaster" Target="/ppt/notesMasters/notesMaster1.xml" Id="R4f457a1f04114ad4" /><Relationship Type="http://schemas.openxmlformats.org/officeDocument/2006/relationships/presProps" Target="/ppt/presProps.xml" Id="R75b2557d212247f6" /><Relationship Type="http://schemas.openxmlformats.org/officeDocument/2006/relationships/tableStyles" Target="/ppt/tableStyles.xml" Id="R99b9754acef943d4" /><Relationship Type="http://schemas.openxmlformats.org/officeDocument/2006/relationships/slide" Target="/ppt/slides/slide1.xml" Id="Re7dd7d36336c46c8" /><Relationship Type="http://schemas.openxmlformats.org/officeDocument/2006/relationships/slide" Target="/ppt/slides/slide2.xml" Id="Rbc3015c01f9348b7" /><Relationship Type="http://schemas.openxmlformats.org/officeDocument/2006/relationships/slide" Target="/ppt/slides/slide3.xml" Id="R43c8e2b957254114" /><Relationship Type="http://schemas.openxmlformats.org/officeDocument/2006/relationships/slide" Target="/ppt/slides/slide4.xml" Id="R6e585f0dbe32412e" /><Relationship Type="http://schemas.openxmlformats.org/officeDocument/2006/relationships/slide" Target="/ppt/slides/slide5.xml" Id="R49ec98cd71b94c7e" /><Relationship Type="http://schemas.openxmlformats.org/officeDocument/2006/relationships/slide" Target="/ppt/slides/slide6.xml" Id="Ra0fbde59602546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1e143d7af948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b5ab6daa0445ec" /><Relationship Type="http://schemas.openxmlformats.org/officeDocument/2006/relationships/notesMaster" Target="/ppt/notesMasters/notesMaster1.xml" Id="Rc7db5af7106b48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9c4564e6f3436c" /><Relationship Type="http://schemas.openxmlformats.org/officeDocument/2006/relationships/notesMaster" Target="/ppt/notesMasters/notesMaster1.xml" Id="Rd8e01d06a8a54c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60ffa857e642b3" /><Relationship Type="http://schemas.openxmlformats.org/officeDocument/2006/relationships/notesMaster" Target="/ppt/notesMasters/notesMaster1.xml" Id="Rde1dc010edf64d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b074fcb7404848" /><Relationship Type="http://schemas.openxmlformats.org/officeDocument/2006/relationships/notesMaster" Target="/ppt/notesMasters/notesMaster1.xml" Id="R05cdd5fca5af41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1eca8859d34c1c" /><Relationship Type="http://schemas.openxmlformats.org/officeDocument/2006/relationships/notesMaster" Target="/ppt/notesMasters/notesMaster1.xml" Id="R8516a94a1a3749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e56539c0224051" /><Relationship Type="http://schemas.openxmlformats.org/officeDocument/2006/relationships/notesMaster" Target="/ppt/notesMasters/notesMaster1.xml" Id="R3a2b90b7be174c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0:00–0:20. «Буква за буквой» — короткая игра со словами для читающих детей. Ребёнок делает догадку, замечает буквенную улику и пробует ещё раз. Основная аудитория — 8–10 лет. В 6–7 лет мы предполагаем помощь взрослого.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docs/Требования.md, docs/Дизайн.md. Снимок настоящего интерфейса: docs/экраны/главный-390.jpg. Требования трека: https://kids.hackathon.aam.run/#tracks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0:20–1:05. Мы не изобретаем новую базовую механику Wordle. Наше отличие — объяснение результата на понятном ребёнку языке. Можно нажать проверенную букву и узнать, что делать с ней дальше. Учебная гипотеза: ребёнок использует сведения из прошлой попытки, сохраняет верную позицию и переставляет найденную букву. Словарь и определения дополнительно помогают знакомиться со словами. Учебный эффект пока не измерен. Для проверки мы предложим несколько коротких раундов детям и посмотрим на их следующую догадку.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docs/Требования.md, docs/Источники.md. Базовая механика уже встречается в экосистеме Сбера, поэтому абсолютная уникальность не заявляется. Источник аналога: https://apps.sber.ru/salute-apps/eca0f91c-ffa7-44e9-9299-93e156fd4933/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1:05–2:20. Здесь показываем живую игру, если доступен телефон с официальной песочницей. Выбираем пять букв. Вводим ЛАМПА и нажимаем «Проверим!». На сохранённом снимке ответ — ЛОДКА: зелёные Л и последняя А уже на месте. В живом случайном раунде результат может отличаться, поэтому не обещаем тот же ответ. Нажимаем проверенную букву и читаем улику. Затем исправляем одну клетку. Неполный ввод, неизвестное слово и повтор не расходуют попытку. Если живой показ недоступен, объясняем этот путь по снимку.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docs/Требования.md, game/js/engine.js, game/js/app.js. Реальный снимок: docs/экраны/раунд-390.jpg. Снимок подтверждает браузерный сценарий и не заменяет запуск на физическом телефоне.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2:20–3:05. Ребёнок сам выбирает помощь. Одна случайная ещё не найденная буква закрепляется на месте. Повторное нажатие показывает ту же открытую букву. Загадка даёт смысловую улику, а определение точнее объясняет значение. Попытки за помощь не списываются. Пословицу мы не навязываем каждому слову: для младших детей короткая ясная загадка часто понятнее. После шести попыток можно спокойно открыть ответ. Кнопка «Сдаться» не нужна.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docs/Требования.md, docs/Контент.md. Настоящий снимок: docs/экраны/подсказка-390.jpg.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3:05–3:50. После победы или раскрытия мы показываем слово, простое определение и небольшое задание для обсуждения. Например, после слова АИСТ можно попробовать постоять на одной ноге. Даже незавершённая разгадка становится знакомством со словом. Есть карточка результата для отправки близким. Она скрывает ответ и личные данные, а отправку выполняет системный контейнер. Мы предполагаем, что такой результат захочется показать, но не заявляем доказанную виральность: это ещё нужно проверить.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docs/Требования.md, game/js/app.js, game/js/bridge.js. Реальный экран: docs/экраны/результат-390.jpg. Картинка на слайде показывает экран результата, а не отправляемую карточку. Критерии: https://kids.hackathon.aam.run/#score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3:50–5:00. Реализация использует только собственные HTML, CSS, JavaScript и SVG. Сейчас в игре 80 ответов с авторскими загадками и определениями, более 680 допустимых догадок. Основной словарь лежит в JSON и проходит проверку перед публикацией. Если загрузка данных не удалась, через 1,9 секунды включается запасной набор. Аккаунта, сервера и постоянного прогресса нет. Результат передаём только через существующий мост контейнера. Автономная Android-оболочка помогает установить игру, но на защите нужен запуск в неизменённой официальной песочнице на реальном телефоне. На момент подготовки презентации физические устройства и iOS не проверены. Следующий шаг — пройти этот сценарий на устройстве и проверить учебную гипотезу с детьми.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docs/Архитектура.md, docs/Сборка.md, docs/Контент.md, game/data/words.json, game/js/content.js. Требования поставки: https://kids.hackathon.aam.run/#delivery и https://kids.hackathon.aam.run/#limits. Статус проверок следует уточнить перед выступлением, не подменяя эмулятор физическим телефоном.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395353f8614e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7b5c8124f249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7b68f200e443e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a065d33c1b41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1d9ddb33b5413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6a422c53cb41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5B2D00-A80E-47C9-9913-FDA6EC7784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D3DEC60-37D3-4B8E-B67C-98DA8B04D6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3FEB988-9335-41B6-A360-8DE4AC2F6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DEA020-7E4F-4EC5-A277-258F0E0E69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76A702C-3BFA-4BC4-B4CA-B5190D8515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497D227-BC27-40C9-A209-942D32B98B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918C9A-6DE7-4F37-872E-C734E8A511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5BCC473-1328-4DD2-AC0D-7C2A8EDEA1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886563-15EA-49E0-BB2C-37694CA458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CC97D73-CFA4-41CD-90A7-79E4716858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4eccc3ed374f73" /><Relationship Type="http://schemas.openxmlformats.org/officeDocument/2006/relationships/slideLayout" Target="/ppt/slideLayouts/slideLayout1.xml" Id="Re624f5cb27c347da" /><Relationship Type="http://schemas.openxmlformats.org/officeDocument/2006/relationships/slideLayout" Target="/ppt/slideLayouts/slideLayout2.xml" Id="Rd74b1f474b0a41b8" /><Relationship Type="http://schemas.openxmlformats.org/officeDocument/2006/relationships/slideLayout" Target="/ppt/slideLayouts/slideLayout3.xml" Id="R68f7418760fc420f" /><Relationship Type="http://schemas.openxmlformats.org/officeDocument/2006/relationships/slideLayout" Target="/ppt/slideLayouts/slideLayout4.xml" Id="R310f137d94064d32" /><Relationship Type="http://schemas.openxmlformats.org/officeDocument/2006/relationships/slideLayout" Target="/ppt/slideLayouts/slideLayout5.xml" Id="R2676e387782e410f" /><Relationship Type="http://schemas.openxmlformats.org/officeDocument/2006/relationships/slideLayout" Target="/ppt/slideLayouts/slideLayout6.xml" Id="Raf7f5e0b8a734e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24f5cb27c347da"/>
    <p:sldLayoutId xmlns:r="http://schemas.openxmlformats.org/officeDocument/2006/relationships" id="2147483650" r:id="Rd74b1f474b0a41b8"/>
    <p:sldLayoutId xmlns:r="http://schemas.openxmlformats.org/officeDocument/2006/relationships" id="2147483651" r:id="R68f7418760fc420f"/>
    <p:sldLayoutId xmlns:r="http://schemas.openxmlformats.org/officeDocument/2006/relationships" id="2147483652" r:id="R310f137d94064d32"/>
    <p:sldLayoutId xmlns:r="http://schemas.openxmlformats.org/officeDocument/2006/relationships" id="2147483653" r:id="R2676e387782e410f"/>
    <p:sldLayoutId xmlns:r="http://schemas.openxmlformats.org/officeDocument/2006/relationships" id="2147483654" r:id="Raf7f5e0b8a734e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c293d87d0b41d1" /><Relationship Type="http://schemas.openxmlformats.org/officeDocument/2006/relationships/image" Target="/ppt/media/image.jpeg" Id="R8e10fafddb334563" /><Relationship Type="http://schemas.openxmlformats.org/officeDocument/2006/relationships/notesSlide" Target="/ppt/notesSlides/notesSlide1.xml" Id="R6193b865db5044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ce1183253142c6" /><Relationship Type="http://schemas.openxmlformats.org/officeDocument/2006/relationships/notesSlide" Target="/ppt/notesSlides/notesSlide2.xml" Id="Rab4bbaf45ab14a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8971b354bc428a" /><Relationship Type="http://schemas.openxmlformats.org/officeDocument/2006/relationships/image" Target="/ppt/media/image2.jpeg" Id="R92f282282b364a28" /><Relationship Type="http://schemas.openxmlformats.org/officeDocument/2006/relationships/notesSlide" Target="/ppt/notesSlides/notesSlide3.xml" Id="Rd110721ed41743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4cc6b6eb6d48dd" /><Relationship Type="http://schemas.openxmlformats.org/officeDocument/2006/relationships/image" Target="/ppt/media/image3.jpeg" Id="Rffb58e4f27bf48bb" /><Relationship Type="http://schemas.openxmlformats.org/officeDocument/2006/relationships/notesSlide" Target="/ppt/notesSlides/notesSlide4.xml" Id="Rcfa2c52502284c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911a91ca3644d5" /><Relationship Type="http://schemas.openxmlformats.org/officeDocument/2006/relationships/image" Target="/ppt/media/image4.jpeg" Id="R35e1277d07384ada" /><Relationship Type="http://schemas.openxmlformats.org/officeDocument/2006/relationships/notesSlide" Target="/ppt/notesSlides/notesSlide5.xml" Id="R0aaad896fa9548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fa71c1b3dc4483" /><Relationship Type="http://schemas.openxmlformats.org/officeDocument/2006/relationships/notesSlide" Target="/ppt/notesSlides/notesSlide6.xml" Id="Rf1bbcd5fd6ec4b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Событие">
            <a:extLst xmlns:a="http://schemas.openxmlformats.org/drawingml/2006/main">
              <a:ext uri="{FF2B5EF4-FFF2-40B4-BE49-F238E27FC236}">
                <a16:creationId xmlns:a16="http://schemas.microsoft.com/office/drawing/2014/main" id="{5C3435AF-7DAC-40C7-913D-3452518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Хакатон ВШЭ и Сбер</a:t>
            </a:r>
          </a:p>
        </p:txBody>
      </p:sp>
      <p:sp>
        <p:nvSpPr>
          <p:cNvPr id="2" name="Название игры">
            <a:extLst xmlns:a="http://schemas.openxmlformats.org/drawingml/2006/main">
              <a:ext uri="{FF2B5EF4-FFF2-40B4-BE49-F238E27FC236}">
                <a16:creationId xmlns:a16="http://schemas.microsoft.com/office/drawing/2014/main" id="{D344B4A1-D137-491E-A4A6-0CC4CBA7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85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Буква</a:t>
            </a:r>
          </a:p>
          <a:p xmlns:a="http://schemas.openxmlformats.org/drawingml/2006/main">
            <a:pPr algn="l">
              <a:defRPr sz="600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за буквой</a:t>
            </a:r>
          </a:p>
        </p:txBody>
      </p:sp>
      <p:sp>
        <p:nvSpPr>
          <p:cNvPr id="3" name="Описание">
            <a:extLst xmlns:a="http://schemas.openxmlformats.org/drawingml/2006/main">
              <a:ext uri="{FF2B5EF4-FFF2-40B4-BE49-F238E27FC236}">
                <a16:creationId xmlns:a16="http://schemas.microsoft.com/office/drawing/2014/main" id="{47572AC3-675C-4266-A04F-E2C31C92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657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Поиск слов</a:t>
            </a:r>
          </a:p>
          <a:p xmlns:a="http://schemas.openxmlformats.org/drawingml/2006/main">
            <a:pPr algn="l">
              <a:defRPr sz="255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по буквенным уликам</a:t>
            </a:r>
          </a:p>
        </p:txBody>
      </p:sp>
      <p:sp>
        <p:nvSpPr>
          <p:cNvPr id="4" name="Аудитория">
            <a:extLst xmlns:a="http://schemas.openxmlformats.org/drawingml/2006/main">
              <a:ext uri="{FF2B5EF4-FFF2-40B4-BE49-F238E27FC236}">
                <a16:creationId xmlns:a16="http://schemas.microsoft.com/office/drawing/2014/main" id="{96817B76-CA53-4CAB-8B4A-39AF54CF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666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8–10 лет самостоятельно</a:t>
            </a:r>
          </a:p>
          <a:p xmlns:a="http://schemas.openxmlformats.org/drawingml/2006/main">
            <a:pPr algn="l">
              <a:defRPr sz="195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6–7 лет со взрослым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BBCF3-01AA-4B06-A887-3CF095586B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0fafddb334563"/>
          <a:stretch xmlns:a="http://schemas.openxmlformats.org/drawingml/2006/main"/>
        </p:blipFill>
        <p:spPr>
          <a:xfrm xmlns:a="http://schemas.openxmlformats.org/drawingml/2006/main">
            <a:off x="8343900" y="554257"/>
            <a:ext cx="2647950" cy="5730435"/>
          </a:xfrm>
          <a:prstGeom xmlns:a="http://schemas.openxmlformats.org/drawingml/2006/main" prst="roundRect">
            <a:avLst>
              <a:gd name="adj" fmla="val 6475"/>
            </a:avLst>
          </a:prstGeom>
        </p:spPr>
      </p:pic>
    </p:spTree>
    <p:extLst>
      <p:ext uri="{BB962C8B-B14F-4D97-AF65-F5344CB8AC3E}">
        <p14:creationId xmlns:p14="http://schemas.microsoft.com/office/powerpoint/2010/main" val="1750619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D411B46F-3A0D-48AD-824A-01A80735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Буквенные улики и мышление</a:t>
            </a:r>
          </a:p>
        </p:txBody>
      </p:sp>
      <p:sp>
        <p:nvSpPr>
          <p:cNvPr id="2" name="Действие ребёнка">
            <a:extLst xmlns:a="http://schemas.openxmlformats.org/drawingml/2006/main">
              <a:ext uri="{FF2B5EF4-FFF2-40B4-BE49-F238E27FC236}">
                <a16:creationId xmlns:a16="http://schemas.microsoft.com/office/drawing/2014/main" id="{B416D6DC-08EE-4461-AAA5-B0D0E2B2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676275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Ребёнок замечает букву</a:t>
            </a:r>
          </a:p>
          <a:p xmlns:a="http://schemas.openxmlformats.org/drawingml/2006/main">
            <a: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и использует её</a:t>
            </a:r>
          </a:p>
          <a:p xmlns:a="http://schemas.openxmlformats.org/drawingml/2006/main">
            <a:pPr algn="l">
              <a:defRPr sz="322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в следующей догадке</a:t>
            </a:r>
          </a:p>
        </p:txBody>
      </p:sp>
      <p:sp>
        <p:nvSpPr>
          <p:cNvPr id="3" name="Статус цели">
            <a:extLst xmlns:a="http://schemas.openxmlformats.org/drawingml/2006/main">
              <a:ext uri="{FF2B5EF4-FFF2-40B4-BE49-F238E27FC236}">
                <a16:creationId xmlns:a16="http://schemas.microsoft.com/office/drawing/2014/main" id="{9125D461-2BDF-4227-9116-6CE971B3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526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7C2D"/>
                </a:solidFill>
                <a:latin typeface="Arial"/>
                <a:ea typeface="Arial"/>
                <a:cs typeface="Arial"/>
              </a:rPr>
              <a:t>Учебная гипотеза</a:t>
            </a:r>
          </a:p>
        </p:txBody>
      </p:sp>
      <p:sp>
        <p:nvSpPr>
          <p:cNvPr id="4" name="Наблюдаемые действия">
            <a:extLst xmlns:a="http://schemas.openxmlformats.org/drawingml/2006/main">
              <a:ext uri="{FF2B5EF4-FFF2-40B4-BE49-F238E27FC236}">
                <a16:creationId xmlns:a16="http://schemas.microsoft.com/office/drawing/2014/main" id="{DC577B92-B1DA-4E1A-B6C3-2649172B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05100"/>
            <a:ext cx="34766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Сохранить верную позицию.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Переставить найденную букву.</a:t>
            </a:r>
          </a:p>
        </p:txBody>
      </p:sp>
      <p:sp>
        <p:nvSpPr>
          <p:cNvPr id="5" name="Способ проверки">
            <a:extLst xmlns:a="http://schemas.openxmlformats.org/drawingml/2006/main">
              <a:ext uri="{FF2B5EF4-FFF2-40B4-BE49-F238E27FC236}">
                <a16:creationId xmlns:a16="http://schemas.microsoft.com/office/drawing/2014/main" id="{EC5847E8-CB47-435D-93CF-64D737B2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10382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Проверим короткой пробой с детьми</a:t>
            </a:r>
          </a:p>
          <a:p xmlns:a="http://schemas.openxmlformats.org/drawingml/2006/main">
            <a:pPr algn="l">
              <a:defRPr sz="21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и наблюдением за следующей попыткой</a:t>
            </a:r>
          </a:p>
        </p:txBody>
      </p:sp>
    </p:spTree>
    <p:extLst>
      <p:ext uri="{BB962C8B-B14F-4D97-AF65-F5344CB8AC3E}">
        <p14:creationId xmlns:p14="http://schemas.microsoft.com/office/powerpoint/2010/main" val="21374856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24D248D0-27E6-4EC5-AD65-4028D95D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Шесть попыток на одно слово</a:t>
            </a:r>
          </a:p>
        </p:txBody>
      </p:sp>
      <p:sp>
        <p:nvSpPr>
          <p:cNvPr id="2" name="Размер слова">
            <a:extLst xmlns:a="http://schemas.openxmlformats.org/drawingml/2006/main">
              <a:ext uri="{FF2B5EF4-FFF2-40B4-BE49-F238E27FC236}">
                <a16:creationId xmlns:a16="http://schemas.microsoft.com/office/drawing/2014/main" id="{124E45EC-AA21-42FE-B853-8C4CD107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647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87C2D"/>
                </a:solidFill>
                <a:latin typeface="Arial"/>
                <a:ea typeface="Arial"/>
                <a:cs typeface="Arial"/>
              </a:rPr>
              <a:t>4–7 букв</a:t>
            </a:r>
          </a:p>
        </p:txBody>
      </p:sp>
      <p:sp>
        <p:nvSpPr>
          <p:cNvPr id="3" name="Правила попыток">
            <a:extLst xmlns:a="http://schemas.openxmlformats.org/drawingml/2006/main">
              <a:ext uri="{FF2B5EF4-FFF2-40B4-BE49-F238E27FC236}">
                <a16:creationId xmlns:a16="http://schemas.microsoft.com/office/drawing/2014/main" id="{9F58F8E4-EDFC-4C9A-A67F-9F191B70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647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Неполное слово и повтор</a:t>
            </a:r>
          </a:p>
          <a:p xmlns:a="http://schemas.openxmlformats.org/drawingml/2006/main">
            <a:pPr algn="l">
              <a:defRPr sz="23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не расходуют попытку</a:t>
            </a:r>
          </a:p>
        </p:txBody>
      </p:sp>
      <p:sp>
        <p:nvSpPr>
          <p:cNvPr id="4" name="Клавиатура">
            <a:extLst xmlns:a="http://schemas.openxmlformats.org/drawingml/2006/main">
              <a:ext uri="{FF2B5EF4-FFF2-40B4-BE49-F238E27FC236}">
                <a16:creationId xmlns:a16="http://schemas.microsoft.com/office/drawing/2014/main" id="{0ACCA73F-6729-4A44-861E-EA48BACA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6572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Все русские буквы всегда видны.</a:t>
            </a:r>
          </a:p>
          <a:p xmlns:a="http://schemas.openxmlformats.org/drawingml/2006/main">
            <a:pPr algn="l">
              <a:defRPr sz="21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Любую свободную клетку можно исправить.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C3165-77F9-4D92-A64A-43836DCDF4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82282b364a28"/>
          <a:stretch xmlns:a="http://schemas.openxmlformats.org/drawingml/2006/main"/>
        </p:blipFill>
        <p:spPr>
          <a:xfrm xmlns:a="http://schemas.openxmlformats.org/drawingml/2006/main">
            <a:off x="8343900" y="554257"/>
            <a:ext cx="2647950" cy="5730435"/>
          </a:xfrm>
          <a:prstGeom xmlns:a="http://schemas.openxmlformats.org/drawingml/2006/main" prst="roundRect">
            <a:avLst>
              <a:gd name="adj" fmla="val 6475"/>
            </a:avLst>
          </a:prstGeom>
        </p:spPr>
      </p:pic>
    </p:spTree>
    <p:extLst>
      <p:ext uri="{BB962C8B-B14F-4D97-AF65-F5344CB8AC3E}">
        <p14:creationId xmlns:p14="http://schemas.microsoft.com/office/powerpoint/2010/main" val="1949237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42179AC0-4CE6-4808-A4C3-A1A2F0C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Помощь без штрафа</a:t>
            </a:r>
          </a:p>
        </p:txBody>
      </p:sp>
      <p:sp>
        <p:nvSpPr>
          <p:cNvPr id="2" name="Первая подсказка">
            <a:extLst xmlns:a="http://schemas.openxmlformats.org/drawingml/2006/main">
              <a:ext uri="{FF2B5EF4-FFF2-40B4-BE49-F238E27FC236}">
                <a16:creationId xmlns:a16="http://schemas.microsoft.com/office/drawing/2014/main" id="{F05A461D-2D8B-4E75-BB69-C89D6DAB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7C2D"/>
                </a:solidFill>
                <a:latin typeface="Arial"/>
                <a:ea typeface="Arial"/>
                <a:cs typeface="Arial"/>
              </a:rPr>
              <a:t>Одна буква</a:t>
            </a:r>
          </a:p>
        </p:txBody>
      </p:sp>
      <p:sp>
        <p:nvSpPr>
          <p:cNvPr id="3" name="Смысл первой подсказки">
            <a:extLst xmlns:a="http://schemas.openxmlformats.org/drawingml/2006/main">
              <a:ext uri="{FF2B5EF4-FFF2-40B4-BE49-F238E27FC236}">
                <a16:creationId xmlns:a16="http://schemas.microsoft.com/office/drawing/2014/main" id="{6A39788A-BE08-46C7-8AF3-C9C20375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657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Закрепляет новую позицию.</a:t>
            </a:r>
          </a:p>
        </p:txBody>
      </p:sp>
      <p:sp>
        <p:nvSpPr>
          <p:cNvPr id="4" name="Вторая подсказка">
            <a:extLst xmlns:a="http://schemas.openxmlformats.org/drawingml/2006/main">
              <a:ext uri="{FF2B5EF4-FFF2-40B4-BE49-F238E27FC236}">
                <a16:creationId xmlns:a16="http://schemas.microsoft.com/office/drawing/2014/main" id="{87EBBDED-1301-41E8-BB7C-E59AB18E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Загадка</a:t>
            </a:r>
          </a:p>
        </p:txBody>
      </p:sp>
      <p:sp>
        <p:nvSpPr>
          <p:cNvPr id="5" name="Смысл второй подсказки">
            <a:extLst xmlns:a="http://schemas.openxmlformats.org/drawingml/2006/main">
              <a:ext uri="{FF2B5EF4-FFF2-40B4-BE49-F238E27FC236}">
                <a16:creationId xmlns:a16="http://schemas.microsoft.com/office/drawing/2014/main" id="{50DDF192-A838-4072-9FC6-C7D51EC5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657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Даёт смысловую улику.</a:t>
            </a:r>
          </a:p>
        </p:txBody>
      </p:sp>
      <p:sp>
        <p:nvSpPr>
          <p:cNvPr id="6" name="Третья подсказка">
            <a:extLst xmlns:a="http://schemas.openxmlformats.org/drawingml/2006/main">
              <a:ext uri="{FF2B5EF4-FFF2-40B4-BE49-F238E27FC236}">
                <a16:creationId xmlns:a16="http://schemas.microsoft.com/office/drawing/2014/main" id="{918A4E95-49E7-41BC-A89D-F13694B9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657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Значение</a:t>
            </a:r>
          </a:p>
        </p:txBody>
      </p:sp>
      <p:sp>
        <p:nvSpPr>
          <p:cNvPr id="7" name="Смысл третьей подсказки">
            <a:extLst xmlns:a="http://schemas.openxmlformats.org/drawingml/2006/main">
              <a:ext uri="{FF2B5EF4-FFF2-40B4-BE49-F238E27FC236}">
                <a16:creationId xmlns:a16="http://schemas.microsoft.com/office/drawing/2014/main" id="{B6F77F80-6CCD-44D2-B332-90AA53C4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Объясняет слово без готового ответа.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B804A-4262-4131-B44C-452D4B8D29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58e4f27bf48bb"/>
          <a:stretch xmlns:a="http://schemas.openxmlformats.org/drawingml/2006/main"/>
        </p:blipFill>
        <p:spPr>
          <a:xfrm xmlns:a="http://schemas.openxmlformats.org/drawingml/2006/main">
            <a:off x="8343900" y="554257"/>
            <a:ext cx="2647950" cy="5730435"/>
          </a:xfrm>
          <a:prstGeom xmlns:a="http://schemas.openxmlformats.org/drawingml/2006/main" prst="roundRect">
            <a:avLst>
              <a:gd name="adj" fmla="val 6475"/>
            </a:avLst>
          </a:prstGeom>
        </p:spPr>
      </p:pic>
    </p:spTree>
    <p:extLst>
      <p:ext uri="{BB962C8B-B14F-4D97-AF65-F5344CB8AC3E}">
        <p14:creationId xmlns:p14="http://schemas.microsoft.com/office/powerpoint/2010/main" val="15809119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8A365B7B-879C-4259-B2B8-BC96FFA4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Каждый раунд заканчивается</a:t>
            </a:r>
          </a:p>
          <a:p xmlns:a="http://schemas.openxmlformats.org/drawingml/2006/main">
            <a: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открытием</a:t>
            </a:r>
          </a:p>
        </p:txBody>
      </p:sp>
      <p:sp>
        <p:nvSpPr>
          <p:cNvPr id="2" name="Итог раунда">
            <a:extLst xmlns:a="http://schemas.openxmlformats.org/drawingml/2006/main">
              <a:ext uri="{FF2B5EF4-FFF2-40B4-BE49-F238E27FC236}">
                <a16:creationId xmlns:a16="http://schemas.microsoft.com/office/drawing/2014/main" id="{613EFEC4-7067-4870-A36E-D47EB997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66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Слово, простое определение</a:t>
            </a:r>
          </a:p>
          <a:p xmlns:a="http://schemas.openxmlformats.org/drawingml/2006/main">
            <a:pPr algn="l">
              <a:defRPr sz="2400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и задание для обсуждения</a:t>
            </a:r>
          </a:p>
        </p:txBody>
      </p:sp>
      <p:sp>
        <p:nvSpPr>
          <p:cNvPr id="3" name="Передача результата">
            <a:extLst xmlns:a="http://schemas.openxmlformats.org/drawingml/2006/main">
              <a:ext uri="{FF2B5EF4-FFF2-40B4-BE49-F238E27FC236}">
                <a16:creationId xmlns:a16="http://schemas.microsoft.com/office/drawing/2014/main" id="{B619B6CF-CAEE-41EB-8D49-43B9F79C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666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7C2D"/>
                </a:solidFill>
                <a:latin typeface="Arial"/>
                <a:ea typeface="Arial"/>
                <a:cs typeface="Arial"/>
              </a:rPr>
              <a:t>Карточка для близких</a:t>
            </a:r>
          </a:p>
          <a:p xmlns:a="http://schemas.openxmlformats.org/drawingml/2006/main">
            <a:pPr algn="l">
              <a:defRPr sz="2325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7C2D"/>
                </a:solidFill>
                <a:latin typeface="Arial"/>
                <a:ea typeface="Arial"/>
                <a:cs typeface="Arial"/>
              </a:rPr>
              <a:t>скрывает загаданное слово</a:t>
            </a:r>
          </a:p>
        </p:txBody>
      </p:sp>
      <p:sp>
        <p:nvSpPr>
          <p:cNvPr id="4" name="Граница вывода">
            <a:extLst xmlns:a="http://schemas.openxmlformats.org/drawingml/2006/main">
              <a:ext uri="{FF2B5EF4-FFF2-40B4-BE49-F238E27FC236}">
                <a16:creationId xmlns:a16="http://schemas.microsoft.com/office/drawing/2014/main" id="{7EC863FA-C3A0-47BC-9D62-BBB2B79E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72150"/>
            <a:ext cx="666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Желание пригласить друга</a:t>
            </a:r>
          </a:p>
          <a:p xmlns:a="http://schemas.openxmlformats.org/drawingml/2006/main">
            <a:pPr algn="l">
              <a:defRPr sz="1800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ещё нужно проверить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C8822-B905-4425-A354-FB570E9001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e1277d07384ada"/>
          <a:stretch xmlns:a="http://schemas.openxmlformats.org/drawingml/2006/main"/>
        </p:blipFill>
        <p:spPr>
          <a:xfrm xmlns:a="http://schemas.openxmlformats.org/drawingml/2006/main">
            <a:off x="8343900" y="554257"/>
            <a:ext cx="2647950" cy="5730435"/>
          </a:xfrm>
          <a:prstGeom xmlns:a="http://schemas.openxmlformats.org/drawingml/2006/main" prst="roundRect">
            <a:avLst>
              <a:gd name="adj" fmla="val 6475"/>
            </a:avLst>
          </a:prstGeom>
        </p:spPr>
      </p:pic>
    </p:spTree>
    <p:extLst>
      <p:ext uri="{BB962C8B-B14F-4D97-AF65-F5344CB8AC3E}">
        <p14:creationId xmlns:p14="http://schemas.microsoft.com/office/powerpoint/2010/main" val="3594976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Заголовок">
            <a:extLst xmlns:a="http://schemas.openxmlformats.org/drawingml/2006/main">
              <a:ext uri="{FF2B5EF4-FFF2-40B4-BE49-F238E27FC236}">
                <a16:creationId xmlns:a16="http://schemas.microsoft.com/office/drawing/2014/main" id="{AA7E9FA9-8611-4047-AB34-A5153941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Статическая игра для WebView</a:t>
            </a:r>
          </a:p>
        </p:txBody>
      </p:sp>
      <p:sp>
        <p:nvSpPr>
          <p:cNvPr id="2" name="Число ответов">
            <a:extLst xmlns:a="http://schemas.openxmlformats.org/drawingml/2006/main">
              <a:ext uri="{FF2B5EF4-FFF2-40B4-BE49-F238E27FC236}">
                <a16:creationId xmlns:a16="http://schemas.microsoft.com/office/drawing/2014/main" id="{89A660A8-6113-415D-9EBD-CFA527BC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02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defPPr>
            <a:lvl1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1pPr>
            <a:lvl2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2pPr>
            <a:lvl3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3pPr>
            <a:lvl4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4pPr>
            <a:lvl5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5pPr>
            <a:lvl6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6pPr>
            <a:lvl7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7pPr>
            <a:lvl8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8pPr>
            <a:lvl9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87C2D"/>
                </a:solidFill>
                <a:latin typeface="Arial"/>
                <a:ea typeface="Arial"/>
                <a:cs typeface="Arial"/>
              </a:rPr>
              <a:t>80</a:t>
            </a:r>
          </a:p>
        </p:txBody>
      </p:sp>
      <p:sp>
        <p:nvSpPr>
          <p:cNvPr id="3" name="Подпись к ответам">
            <a:extLst xmlns:a="http://schemas.openxmlformats.org/drawingml/2006/main">
              <a:ext uri="{FF2B5EF4-FFF2-40B4-BE49-F238E27FC236}">
                <a16:creationId xmlns:a16="http://schemas.microsoft.com/office/drawing/2014/main" id="{A13B90F3-93B4-437B-AA77-3345CC8A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5000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слов с авторскими подсказками</a:t>
            </a:r>
          </a:p>
        </p:txBody>
      </p:sp>
      <p:sp>
        <p:nvSpPr>
          <p:cNvPr id="4" name="Число догадок">
            <a:extLst xmlns:a="http://schemas.openxmlformats.org/drawingml/2006/main">
              <a:ext uri="{FF2B5EF4-FFF2-40B4-BE49-F238E27FC236}">
                <a16:creationId xmlns:a16="http://schemas.microsoft.com/office/drawing/2014/main" id="{2129448B-3B47-48C0-B923-614317CA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defPPr>
            <a:lvl1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1pPr>
            <a:lvl2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2pPr>
            <a:lvl3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3pPr>
            <a:lvl4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4pPr>
            <a:lvl5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5pPr>
            <a:lvl6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6pPr>
            <a:lvl7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7pPr>
            <a:lvl8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8pPr>
            <a:lvl9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187C2D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87C2D"/>
                </a:solidFill>
                <a:latin typeface="Arial"/>
                <a:ea typeface="Arial"/>
                <a:cs typeface="Arial"/>
              </a:rPr>
              <a:t>680+</a:t>
            </a:r>
          </a:p>
        </p:txBody>
      </p:sp>
      <p:sp>
        <p:nvSpPr>
          <p:cNvPr id="5" name="Подпись к догадкам">
            <a:extLst xmlns:a="http://schemas.openxmlformats.org/drawingml/2006/main">
              <a:ext uri="{FF2B5EF4-FFF2-40B4-BE49-F238E27FC236}">
                <a16:creationId xmlns:a16="http://schemas.microsoft.com/office/drawing/2014/main" id="{B388C7F3-FF8C-427C-9A65-70D3B6BD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5000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допустимых догадок</a:t>
            </a:r>
          </a:p>
        </p:txBody>
      </p:sp>
      <p:sp>
        <p:nvSpPr>
          <p:cNvPr id="6" name="Технология">
            <a:extLst xmlns:a="http://schemas.openxmlformats.org/drawingml/2006/main">
              <a:ext uri="{FF2B5EF4-FFF2-40B4-BE49-F238E27FC236}">
                <a16:creationId xmlns:a16="http://schemas.microsoft.com/office/drawing/2014/main" id="{16AD32C3-1B4F-4A6E-8C3E-D02410F1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52625"/>
            <a:ext cx="5048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Собственные HTML, CSS и JavaScript.</a:t>
            </a:r>
          </a:p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Данные в 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1"/>
                </a:solidFill>
                <a:latin typeface="Arial"/>
                <a:ea typeface="Arial"/>
                <a:cs typeface="Arial"/>
              </a:rPr>
              <a:t>Без аккаунта, сервера и сохранений.</a:t>
            </a:r>
          </a:p>
        </p:txBody>
      </p:sp>
      <p:sp>
        <p:nvSpPr>
          <p:cNvPr id="7" name="Проверка перед защитой">
            <a:extLst xmlns:a="http://schemas.openxmlformats.org/drawingml/2006/main">
              <a:ext uri="{FF2B5EF4-FFF2-40B4-BE49-F238E27FC236}">
                <a16:creationId xmlns:a16="http://schemas.microsoft.com/office/drawing/2014/main" id="{169D7B66-126C-4D09-BB83-CDABA4B6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33875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93E3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93E31"/>
                </a:solidFill>
                <a:latin typeface="Arial"/>
                <a:ea typeface="Arial"/>
                <a:cs typeface="Arial"/>
              </a:rPr>
              <a:t>Перед защитой</a:t>
            </a:r>
          </a:p>
        </p:txBody>
      </p:sp>
      <p:sp>
        <p:nvSpPr>
          <p:cNvPr id="8" name="Следующий шаг">
            <a:extLst xmlns:a="http://schemas.openxmlformats.org/drawingml/2006/main">
              <a:ext uri="{FF2B5EF4-FFF2-40B4-BE49-F238E27FC236}">
                <a16:creationId xmlns:a16="http://schemas.microsoft.com/office/drawing/2014/main" id="{6C64F8FB-A51B-4DE4-AA4B-B97E7824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72050"/>
            <a:ext cx="50958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Официальная песочница на телефоне.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iOS и физические устройства</a:t>
            </a:r>
          </a:p>
          <a:p xmlns:a="http://schemas.openxmlformats.org/drawingml/2006/main">
            <a:pPr algn="l">
              <a:defRPr sz="1875" b="0">
                <a:solidFill>
                  <a:srgbClr val="6477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4776B"/>
                </a:solidFill>
                <a:latin typeface="Arial"/>
                <a:ea typeface="Arial"/>
                <a:cs typeface="Arial"/>
              </a:rPr>
              <a:t>ещё не проверены.</a:t>
            </a:r>
          </a:p>
        </p:txBody>
      </p:sp>
    </p:spTree>
    <p:extLst>
      <p:ext uri="{BB962C8B-B14F-4D97-AF65-F5344CB8AC3E}">
        <p14:creationId xmlns:p14="http://schemas.microsoft.com/office/powerpoint/2010/main" val="1823717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2026-10-17T18:17:49.8400000Z</dcterms:created>
  <dcterms:modified xsi:type="dcterms:W3CDTF">2026-10-17T18:17:49.8400000Z</dcterms:modified>
</coreProperties>
</file>