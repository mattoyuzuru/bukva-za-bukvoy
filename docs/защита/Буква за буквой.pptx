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f80b67657d4668" /><Relationship Type="http://schemas.openxmlformats.org/officeDocument/2006/relationships/extended-properties" Target="/docProps/app.xml" Id="R9535bb70c06b4b78" /><Relationship Type="http://schemas.openxmlformats.org/officeDocument/2006/relationships/officeDocument" Target="/ppt/presentation.xml" Id="R1b675becea9d4e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64c4985b934c0d"/>
  </p:sldMasterIdLst>
  <p:notesMasterIdLst>
    <p:notesMasterId xmlns:r="http://schemas.openxmlformats.org/officeDocument/2006/relationships" r:id="Rf383fbe92ecc4229"/>
  </p:notesMasterIdLst>
  <p:sldIdLst>
    <p:sldId xmlns:r="http://schemas.openxmlformats.org/officeDocument/2006/relationships" id="256" r:id="Ra276d54551ef4a6e"/>
    <p:sldId xmlns:r="http://schemas.openxmlformats.org/officeDocument/2006/relationships" id="257" r:id="R497dfa2818284454"/>
    <p:sldId xmlns:r="http://schemas.openxmlformats.org/officeDocument/2006/relationships" id="258" r:id="R1a91cc30afe64b09"/>
    <p:sldId xmlns:r="http://schemas.openxmlformats.org/officeDocument/2006/relationships" id="259" r:id="R76dcd06b8c694c75"/>
    <p:sldId xmlns:r="http://schemas.openxmlformats.org/officeDocument/2006/relationships" id="260" r:id="R5960063abed34607"/>
    <p:sldId xmlns:r="http://schemas.openxmlformats.org/officeDocument/2006/relationships" id="261" r:id="R40c02c1889d642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db95a845284086" /><Relationship Type="http://schemas.openxmlformats.org/officeDocument/2006/relationships/slideMaster" Target="/ppt/slideMasters/slideMaster1.xml" Id="Re264c4985b934c0d" /><Relationship Type="http://schemas.openxmlformats.org/officeDocument/2006/relationships/notesMaster" Target="/ppt/notesMasters/notesMaster1.xml" Id="Rf383fbe92ecc4229" /><Relationship Type="http://schemas.openxmlformats.org/officeDocument/2006/relationships/presProps" Target="/ppt/presProps.xml" Id="R84484e5cf643410a" /><Relationship Type="http://schemas.openxmlformats.org/officeDocument/2006/relationships/tableStyles" Target="/ppt/tableStyles.xml" Id="R5087a7d9369c4e72" /><Relationship Type="http://schemas.openxmlformats.org/officeDocument/2006/relationships/slide" Target="/ppt/slides/slide1.xml" Id="Ra276d54551ef4a6e" /><Relationship Type="http://schemas.openxmlformats.org/officeDocument/2006/relationships/slide" Target="/ppt/slides/slide2.xml" Id="R497dfa2818284454" /><Relationship Type="http://schemas.openxmlformats.org/officeDocument/2006/relationships/slide" Target="/ppt/slides/slide3.xml" Id="R1a91cc30afe64b09" /><Relationship Type="http://schemas.openxmlformats.org/officeDocument/2006/relationships/slide" Target="/ppt/slides/slide4.xml" Id="R76dcd06b8c694c75" /><Relationship Type="http://schemas.openxmlformats.org/officeDocument/2006/relationships/slide" Target="/ppt/slides/slide5.xml" Id="R5960063abed34607" /><Relationship Type="http://schemas.openxmlformats.org/officeDocument/2006/relationships/slide" Target="/ppt/slides/slide6.xml" Id="R40c02c1889d642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2bb00b360740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96bcf9bbd74682" /><Relationship Type="http://schemas.openxmlformats.org/officeDocument/2006/relationships/notesMaster" Target="/ppt/notesMasters/notesMaster1.xml" Id="R36f9b3cad1894f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1d473c832b4678" /><Relationship Type="http://schemas.openxmlformats.org/officeDocument/2006/relationships/notesMaster" Target="/ppt/notesMasters/notesMaster1.xml" Id="R695703060f6c4b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e268ea3f56416d" /><Relationship Type="http://schemas.openxmlformats.org/officeDocument/2006/relationships/notesMaster" Target="/ppt/notesMasters/notesMaster1.xml" Id="Rb5b59c2f99754a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e7a30cb92c4fa6" /><Relationship Type="http://schemas.openxmlformats.org/officeDocument/2006/relationships/notesMaster" Target="/ppt/notesMasters/notesMaster1.xml" Id="R8d615518c7df41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5ae6020ac449df" /><Relationship Type="http://schemas.openxmlformats.org/officeDocument/2006/relationships/notesMaster" Target="/ppt/notesMasters/notesMaster1.xml" Id="Rd31ab55bb9174e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08c2e1586a4bd3" /><Relationship Type="http://schemas.openxmlformats.org/officeDocument/2006/relationships/notesMaster" Target="/ppt/notesMasters/notesMaster1.xml" Id="R6f68088e13004d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0:00–0:20. «Буква за буквой» — короткая игра со словами для читающих детей. Ребёнок делает догадку, замечает буквенную улику и пробует ещё раз. Основная аудитория — 8–10 лет. В 6–7 лет мы предполагаем помощь взрослого.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docs/Требования.md, docs/Дизайн.md. Снимок настоящего интерфейса: docs/экраны/главный-390.jpg. Требования трека: https://kids.hackathon.aam.run/#tracks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0:20–1:05. Мы не изобретаем новую базовую механику Wordle. Наше отличие — объяснение результата на понятном ребёнку языке. Можно нажать проверенную букву и узнать, что делать с ней дальше. Учебная гипотеза: ребёнок использует сведения из прошлой попытки, сохраняет верную позицию и переставляет найденную букву. Словарь и определения дополнительно помогают знакомиться со словами. Учебный эффект пока не измерен. Для проверки мы предложим несколько коротких раундов детям и посмотрим на их следующую догадку.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docs/Требования.md, docs/Источники.md. Базовая механика уже встречается в экосистеме Сбера, поэтому абсолютная уникальность не заявляется. Источник аналога: https://apps.sber.ru/salute-apps/eca0f91c-ffa7-44e9-9299-93e156fd4933/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1:05–2:20. Здесь показываем живую игру, если доступен телефон с официальной песочницей. Выбираем пять букв. Вводим ЛАМПА и нажимаем «Проверим!». На сохранённом снимке ответ — ЛОДКА: зелёные Л и последняя А уже на месте. В живом случайном раунде результат может отличаться, поэтому не обещаем тот же ответ. Нажимаем проверенную букву и читаем улику. Затем исправляем одну клетку. Неполный ввод, неизвестное слово и повтор не расходуют попытку. Если живой показ недоступен, объясняем этот путь по снимку.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docs/Требования.md, game/js/engine.js, game/js/app.js. Реальный снимок: docs/экраны/раунд-390.jpg. Снимок подтверждает браузерный сценарий и не заменяет запуск на физическом телефоне.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2:20–3:05. Ребёнок сам выбирает помощь. Одна случайная ещё не найденная буква закрепляется на месте. Повторное нажатие показывает ту же открытую букву. Загадка даёт смысловую улику, а определение точнее объясняет значение. Попытки за помощь не списываются. Пословицу мы не навязываем каждому слову: для младших детей короткая ясная загадка часто понятнее. После шести попыток можно спокойно открыть ответ. Кнопка «Сдаться» не нужна.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docs/Требования.md, docs/Контент.md. Настоящий снимок: docs/экраны/подсказка-390.jpg.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3:05–3:50. После победы или раскрытия мы показываем слово, простое определение и небольшое задание для обсуждения. Например, после слова АИСТ можно попробовать постоять на одной ноге. Даже незавершённая разгадка становится знакомством со словом. Есть карточка результата для отправки близким. Она скрывает ответ и личные данные, а отправку выполняет системный контейнер. Мы предполагаем, что такой результат захочется показать, но не заявляем доказанную виральность: это ещё нужно проверить.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docs/Требования.md, game/js/app.js, game/js/bridge.js. Реальный экран: docs/экраны/результат-390.jpg. Картинка на слайде показывает экран результата, а не отправляемую карточку. Критерии: https://kids.hackathon.aam.run/#score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3:50–5:00. Реализация использует только собственные HTML, CSS, JavaScript и SVG. Сейчас в игре 80 ответов с авторскими загадками и определениями, более 680 допустимых догадок. Основной словарь лежит в JSON и проходит проверку перед публикацией. Если загрузка данных не удалась, через 1,9 секунды включается запасной набор. Аккаунта, сервера и постоянного прогресса нет. Результат передаём только через существующий мост контейнера. Автономные Android- и iOS-оболочки помогают проверить игру. На профиле Duo с iOS 27.1 пройден раунд от СЛОН к ХЛЕБ. На профиле iPhone 16 с iOS 27.0 проверены сохранение буквы при повороте, сброс при закрытии и новом открытии, системное меню отправки текста и предпросмотр PNG через Print Options. Физические телефоны и TestFlight пока не проверены. Для защиты остаётся нужен запуск в неизменённой официальной песочнице на реальном телефоне. Следующий шаг — пройти этот сценарий на устройстве и проверить учебную гипотезу с детьми.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docs/Архитектура.md, docs/Сборка.md, docs/Сборка iOS.md, docs/Проверки.md, docs/Контент.md, game/data/words.json, game/js/content.js. Требования поставки: https://kids.hackathon.aam.run/#delivery и https://kids.hackathon.aam.run/#limits. Simulator не заменяет физический телефон.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90b8850b46430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f74c72add14e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b1f1290bd441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e6549635a14ab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ce5c086ac640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6ce9f23e344f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7585DF-BDD9-4783-BB33-ACA6806CF4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3F7E3C5-B8E8-4A62-BC92-75D55B97D9B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A2D3F66-FFE6-4CBB-98EE-7B83DD9FA3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20D959-9524-41A5-80AA-67DD422633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9E41886-6B85-4CC8-983A-7ABF514D88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1633742-5576-4C70-A355-05C91A3B9A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BDCEC6-E0D5-4D2A-A68A-E073EEC047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22DB230-754E-4C9E-84DE-ADDD4FB1EA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5A1D6C-2503-4097-95C1-73E3BBBB4B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1BB200B-FF8D-49F8-B6C7-47F1E03F32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370b3dbdec47da" /><Relationship Type="http://schemas.openxmlformats.org/officeDocument/2006/relationships/slideLayout" Target="/ppt/slideLayouts/slideLayout1.xml" Id="R9c7fd856f77b441e" /><Relationship Type="http://schemas.openxmlformats.org/officeDocument/2006/relationships/slideLayout" Target="/ppt/slideLayouts/slideLayout2.xml" Id="Raa1589d926f843f5" /><Relationship Type="http://schemas.openxmlformats.org/officeDocument/2006/relationships/slideLayout" Target="/ppt/slideLayouts/slideLayout3.xml" Id="Rc40642372bed4b14" /><Relationship Type="http://schemas.openxmlformats.org/officeDocument/2006/relationships/slideLayout" Target="/ppt/slideLayouts/slideLayout4.xml" Id="Ra49e26e765ed4666" /><Relationship Type="http://schemas.openxmlformats.org/officeDocument/2006/relationships/slideLayout" Target="/ppt/slideLayouts/slideLayout5.xml" Id="R712355cce0f249de" /><Relationship Type="http://schemas.openxmlformats.org/officeDocument/2006/relationships/slideLayout" Target="/ppt/slideLayouts/slideLayout6.xml" Id="Rec6234ce054547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7fd856f77b441e"/>
    <p:sldLayoutId xmlns:r="http://schemas.openxmlformats.org/officeDocument/2006/relationships" id="2147483650" r:id="Raa1589d926f843f5"/>
    <p:sldLayoutId xmlns:r="http://schemas.openxmlformats.org/officeDocument/2006/relationships" id="2147483651" r:id="Rc40642372bed4b14"/>
    <p:sldLayoutId xmlns:r="http://schemas.openxmlformats.org/officeDocument/2006/relationships" id="2147483652" r:id="Ra49e26e765ed4666"/>
    <p:sldLayoutId xmlns:r="http://schemas.openxmlformats.org/officeDocument/2006/relationships" id="2147483653" r:id="R712355cce0f249de"/>
    <p:sldLayoutId xmlns:r="http://schemas.openxmlformats.org/officeDocument/2006/relationships" id="2147483654" r:id="Rec6234ce054547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c0f82862b04e78" /><Relationship Type="http://schemas.openxmlformats.org/officeDocument/2006/relationships/image" Target="/ppt/media/image.jpeg" Id="R24cf265eea8d4d86" /><Relationship Type="http://schemas.openxmlformats.org/officeDocument/2006/relationships/notesSlide" Target="/ppt/notesSlides/notesSlide1.xml" Id="R07e36c07c40c4e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d9d6235d934160" /><Relationship Type="http://schemas.openxmlformats.org/officeDocument/2006/relationships/notesSlide" Target="/ppt/notesSlides/notesSlide2.xml" Id="R36bb0c2553614e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be99b0ef2b43ad" /><Relationship Type="http://schemas.openxmlformats.org/officeDocument/2006/relationships/image" Target="/ppt/media/image2.jpeg" Id="Rc4d0a27536da4797" /><Relationship Type="http://schemas.openxmlformats.org/officeDocument/2006/relationships/notesSlide" Target="/ppt/notesSlides/notesSlide3.xml" Id="R2069915e56f94c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b7905e00314fc9" /><Relationship Type="http://schemas.openxmlformats.org/officeDocument/2006/relationships/image" Target="/ppt/media/image3.jpeg" Id="Re0562093dc7b4f3b" /><Relationship Type="http://schemas.openxmlformats.org/officeDocument/2006/relationships/notesSlide" Target="/ppt/notesSlides/notesSlide4.xml" Id="Rbed4387c19554a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85e5397c5840bd" /><Relationship Type="http://schemas.openxmlformats.org/officeDocument/2006/relationships/image" Target="/ppt/media/image4.jpeg" Id="R26a821cebec4485e" /><Relationship Type="http://schemas.openxmlformats.org/officeDocument/2006/relationships/notesSlide" Target="/ppt/notesSlides/notesSlide5.xml" Id="R71a5ddc793914d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1cd2312ae848af" /><Relationship Type="http://schemas.openxmlformats.org/officeDocument/2006/relationships/notesSlide" Target="/ppt/notesSlides/notesSlide6.xml" Id="R4d096a4992c944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Событие">
            <a:extLst xmlns:a="http://schemas.openxmlformats.org/drawingml/2006/main">
              <a:ext uri="{FF2B5EF4-FFF2-40B4-BE49-F238E27FC236}">
                <a16:creationId xmlns:a16="http://schemas.microsoft.com/office/drawing/2014/main" id="{02EA35A5-07CA-4646-B3DE-8AD64183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76B"/>
                </a:solidFill>
                <a:latin typeface="Arial"/>
                <a:ea typeface="Arial"/>
                <a:cs typeface="Arial"/>
              </a:rPr>
              <a:t>Хакатон ВШЭ и Сбер</a:t>
            </a:r>
          </a:p>
        </p:txBody>
      </p:sp>
      <p:sp>
        <p:nvSpPr>
          <p:cNvPr id="2" name="Название игры">
            <a:extLst xmlns:a="http://schemas.openxmlformats.org/drawingml/2006/main">
              <a:ext uri="{FF2B5EF4-FFF2-40B4-BE49-F238E27FC236}">
                <a16:creationId xmlns:a16="http://schemas.microsoft.com/office/drawing/2014/main" id="{954EBB96-1CF0-4A0A-A621-6A2522E4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85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  <a:lvl1pPr algn="l">
              <a:defRPr sz="600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1pPr>
            <a:lvl2pPr algn="l">
              <a:defRPr sz="600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2pPr>
            <a:lvl3pPr algn="l">
              <a:defRPr sz="600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3pPr>
            <a:lvl4pPr algn="l">
              <a:defRPr sz="600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4pPr>
            <a:lvl5pPr algn="l">
              <a:defRPr sz="600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5pPr>
            <a:lvl6pPr algn="l">
              <a:defRPr sz="600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6pPr>
            <a:lvl7pPr algn="l">
              <a:defRPr sz="600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7pPr>
            <a:lvl8pPr algn="l">
              <a:defRPr sz="600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8pPr>
            <a:lvl9pPr algn="l">
              <a:defRPr sz="600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00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Буква</a:t>
            </a:r>
          </a:p>
          <a:p xmlns:a="http://schemas.openxmlformats.org/drawingml/2006/main">
            <a:pPr algn="l">
              <a:defRPr sz="600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за буквой</a:t>
            </a:r>
          </a:p>
        </p:txBody>
      </p:sp>
      <p:sp>
        <p:nvSpPr>
          <p:cNvPr id="3" name="Описание">
            <a:extLst xmlns:a="http://schemas.openxmlformats.org/drawingml/2006/main">
              <a:ext uri="{FF2B5EF4-FFF2-40B4-BE49-F238E27FC236}">
                <a16:creationId xmlns:a16="http://schemas.microsoft.com/office/drawing/2014/main" id="{ECA3A5E4-B7F4-4B26-B0DE-96069B13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93E31"/>
                </a:solidFill>
                <a:latin typeface="Arial"/>
                <a:ea typeface="Arial"/>
                <a:cs typeface="Arial"/>
              </a:rPr>
              <a:t>Поиск слов</a:t>
            </a:r>
          </a:p>
          <a:p xmlns:a="http://schemas.openxmlformats.org/drawingml/2006/main">
            <a:pPr algn="l">
              <a:defRPr sz="255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93E31"/>
                </a:solidFill>
                <a:latin typeface="Arial"/>
                <a:ea typeface="Arial"/>
                <a:cs typeface="Arial"/>
              </a:rPr>
              <a:t>по буквенным уликам</a:t>
            </a:r>
          </a:p>
        </p:txBody>
      </p:sp>
      <p:sp>
        <p:nvSpPr>
          <p:cNvPr id="4" name="Аудитория">
            <a:extLst xmlns:a="http://schemas.openxmlformats.org/drawingml/2006/main">
              <a:ext uri="{FF2B5EF4-FFF2-40B4-BE49-F238E27FC236}">
                <a16:creationId xmlns:a16="http://schemas.microsoft.com/office/drawing/2014/main" id="{DC8ABF3D-291B-4209-8464-E627CD07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76B"/>
                </a:solidFill>
                <a:latin typeface="Arial"/>
                <a:ea typeface="Arial"/>
                <a:cs typeface="Arial"/>
              </a:rPr>
              <a:t>8–10 лет самостоятельно</a:t>
            </a:r>
          </a:p>
          <a:p xmlns:a="http://schemas.openxmlformats.org/drawingml/2006/main">
            <a:pPr algn="l">
              <a:defRPr sz="195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76B"/>
                </a:solidFill>
                <a:latin typeface="Arial"/>
                <a:ea typeface="Arial"/>
                <a:cs typeface="Arial"/>
              </a:rPr>
              <a:t>6–7 лет со взрослым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DD657-ACB2-491A-8A58-259A9F3A08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f265eea8d4d86"/>
          <a:stretch xmlns:a="http://schemas.openxmlformats.org/drawingml/2006/main"/>
        </p:blipFill>
        <p:spPr>
          <a:xfrm xmlns:a="http://schemas.openxmlformats.org/drawingml/2006/main">
            <a:off x="8343900" y="554257"/>
            <a:ext cx="2647950" cy="5730435"/>
          </a:xfrm>
          <a:prstGeom xmlns:a="http://schemas.openxmlformats.org/drawingml/2006/main" prst="roundRect">
            <a:avLst>
              <a:gd name="adj" fmla="val 6475"/>
            </a:avLst>
          </a:prstGeom>
        </p:spPr>
      </p:pic>
    </p:spTree>
    <p:extLst>
      <p:ext uri="{BB962C8B-B14F-4D97-AF65-F5344CB8AC3E}">
        <p14:creationId xmlns:p14="http://schemas.microsoft.com/office/powerpoint/2010/main" val="12831685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A9972CCC-BE4D-482B-89A5-FF9D4DD1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Буквенные улики и мышление</a:t>
            </a:r>
          </a:p>
        </p:txBody>
      </p:sp>
      <p:sp>
        <p:nvSpPr>
          <p:cNvPr id="2" name="Действие ребёнка">
            <a:extLst xmlns:a="http://schemas.openxmlformats.org/drawingml/2006/main">
              <a:ext uri="{FF2B5EF4-FFF2-40B4-BE49-F238E27FC236}">
                <a16:creationId xmlns:a16="http://schemas.microsoft.com/office/drawing/2014/main" id="{203A4716-F499-45E5-810B-8F0AD343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6762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Ребёнок замечает букву</a:t>
            </a:r>
          </a:p>
          <a:p xmlns:a="http://schemas.openxmlformats.org/drawingml/2006/main">
            <a:pPr algn="l">
              <a:defRPr sz="322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и использует её</a:t>
            </a:r>
          </a:p>
          <a:p xmlns:a="http://schemas.openxmlformats.org/drawingml/2006/main">
            <a:pPr algn="l">
              <a:defRPr sz="322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в следующей догадке</a:t>
            </a:r>
          </a:p>
        </p:txBody>
      </p:sp>
      <p:sp>
        <p:nvSpPr>
          <p:cNvPr id="3" name="Статус цели">
            <a:extLst xmlns:a="http://schemas.openxmlformats.org/drawingml/2006/main">
              <a:ext uri="{FF2B5EF4-FFF2-40B4-BE49-F238E27FC236}">
                <a16:creationId xmlns:a16="http://schemas.microsoft.com/office/drawing/2014/main" id="{1D96A79D-6D9D-4044-A842-D02D0DDD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5262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7C2D"/>
                </a:solidFill>
                <a:latin typeface="Arial"/>
                <a:ea typeface="Arial"/>
                <a:cs typeface="Arial"/>
              </a:rPr>
              <a:t>Учебная гипотеза</a:t>
            </a:r>
          </a:p>
        </p:txBody>
      </p:sp>
      <p:sp>
        <p:nvSpPr>
          <p:cNvPr id="4" name="Наблюдаемые действия">
            <a:extLst xmlns:a="http://schemas.openxmlformats.org/drawingml/2006/main">
              <a:ext uri="{FF2B5EF4-FFF2-40B4-BE49-F238E27FC236}">
                <a16:creationId xmlns:a16="http://schemas.microsoft.com/office/drawing/2014/main" id="{2B9BBDE5-DEBE-4F2F-9A54-3307E910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05100"/>
            <a:ext cx="3476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E31"/>
                </a:solidFill>
                <a:latin typeface="Arial"/>
                <a:ea typeface="Arial"/>
                <a:cs typeface="Arial"/>
              </a:rPr>
              <a:t>Сохранить верную позицию.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E31"/>
                </a:solidFill>
                <a:latin typeface="Arial"/>
                <a:ea typeface="Arial"/>
                <a:cs typeface="Arial"/>
              </a:rPr>
              <a:t>Переставить найденную букву.</a:t>
            </a:r>
          </a:p>
        </p:txBody>
      </p:sp>
      <p:sp>
        <p:nvSpPr>
          <p:cNvPr id="5" name="Способ проверки">
            <a:extLst xmlns:a="http://schemas.openxmlformats.org/drawingml/2006/main">
              <a:ext uri="{FF2B5EF4-FFF2-40B4-BE49-F238E27FC236}">
                <a16:creationId xmlns:a16="http://schemas.microsoft.com/office/drawing/2014/main" id="{93BFE656-C4A5-451E-839B-FEC8A8B9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4776B"/>
                </a:solidFill>
                <a:latin typeface="Arial"/>
                <a:ea typeface="Arial"/>
                <a:cs typeface="Arial"/>
              </a:rPr>
              <a:t>Проверим короткой пробой с детьми</a:t>
            </a:r>
          </a:p>
          <a:p xmlns:a="http://schemas.openxmlformats.org/drawingml/2006/main">
            <a:pPr algn="l">
              <a:defRPr sz="21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4776B"/>
                </a:solidFill>
                <a:latin typeface="Arial"/>
                <a:ea typeface="Arial"/>
                <a:cs typeface="Arial"/>
              </a:rPr>
              <a:t>и наблюдением за следующей попыткой</a:t>
            </a:r>
          </a:p>
        </p:txBody>
      </p:sp>
    </p:spTree>
    <p:extLst>
      <p:ext uri="{BB962C8B-B14F-4D97-AF65-F5344CB8AC3E}">
        <p14:creationId xmlns:p14="http://schemas.microsoft.com/office/powerpoint/2010/main" val="9292214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6AE5399-E80C-48A3-85A5-38E257DA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Шесть попыток на одно слово</a:t>
            </a:r>
          </a:p>
        </p:txBody>
      </p:sp>
      <p:sp>
        <p:nvSpPr>
          <p:cNvPr id="2" name="Размер слова">
            <a:extLst xmlns:a="http://schemas.openxmlformats.org/drawingml/2006/main">
              <a:ext uri="{FF2B5EF4-FFF2-40B4-BE49-F238E27FC236}">
                <a16:creationId xmlns:a16="http://schemas.microsoft.com/office/drawing/2014/main" id="{54F38C21-0452-4338-975C-66CA4923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647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defPPr>
            <a:lvl1pPr algn="l">
              <a:defRPr sz="42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1pPr>
            <a:lvl2pPr algn="l">
              <a:defRPr sz="42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2pPr>
            <a:lvl3pPr algn="l">
              <a:defRPr sz="42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3pPr>
            <a:lvl4pPr algn="l">
              <a:defRPr sz="42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4pPr>
            <a:lvl5pPr algn="l">
              <a:defRPr sz="42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5pPr>
            <a:lvl6pPr algn="l">
              <a:defRPr sz="42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6pPr>
            <a:lvl7pPr algn="l">
              <a:defRPr sz="42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7pPr>
            <a:lvl8pPr algn="l">
              <a:defRPr sz="42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8pPr>
            <a:lvl9pPr algn="l">
              <a:defRPr sz="42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87C2D"/>
                </a:solidFill>
                <a:latin typeface="Arial"/>
                <a:ea typeface="Arial"/>
                <a:cs typeface="Arial"/>
              </a:rPr>
              <a:t>4–7 букв</a:t>
            </a:r>
          </a:p>
        </p:txBody>
      </p:sp>
      <p:sp>
        <p:nvSpPr>
          <p:cNvPr id="3" name="Правила попыток">
            <a:extLst xmlns:a="http://schemas.openxmlformats.org/drawingml/2006/main">
              <a:ext uri="{FF2B5EF4-FFF2-40B4-BE49-F238E27FC236}">
                <a16:creationId xmlns:a16="http://schemas.microsoft.com/office/drawing/2014/main" id="{DA6499E0-CD7A-4580-BFBC-D26149C5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647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E31"/>
                </a:solidFill>
                <a:latin typeface="Arial"/>
                <a:ea typeface="Arial"/>
                <a:cs typeface="Arial"/>
              </a:rPr>
              <a:t>Неполное слово и повтор</a:t>
            </a:r>
          </a:p>
          <a:p xmlns:a="http://schemas.openxmlformats.org/drawingml/2006/main">
            <a:pPr algn="l">
              <a:defRPr sz="23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E31"/>
                </a:solidFill>
                <a:latin typeface="Arial"/>
                <a:ea typeface="Arial"/>
                <a:cs typeface="Arial"/>
              </a:rPr>
              <a:t>не расходуют попытку</a:t>
            </a:r>
          </a:p>
        </p:txBody>
      </p:sp>
      <p:sp>
        <p:nvSpPr>
          <p:cNvPr id="4" name="Клавиатура">
            <a:extLst xmlns:a="http://schemas.openxmlformats.org/drawingml/2006/main">
              <a:ext uri="{FF2B5EF4-FFF2-40B4-BE49-F238E27FC236}">
                <a16:creationId xmlns:a16="http://schemas.microsoft.com/office/drawing/2014/main" id="{55FB1C45-06D4-4373-AB8A-29AB2B9B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6572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4776B"/>
                </a:solidFill>
                <a:latin typeface="Arial"/>
                <a:ea typeface="Arial"/>
                <a:cs typeface="Arial"/>
              </a:rPr>
              <a:t>Все русские буквы всегда видны.</a:t>
            </a:r>
          </a:p>
          <a:p xmlns:a="http://schemas.openxmlformats.org/drawingml/2006/main">
            <a:pPr algn="l">
              <a:defRPr sz="2175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4776B"/>
                </a:solidFill>
                <a:latin typeface="Arial"/>
                <a:ea typeface="Arial"/>
                <a:cs typeface="Arial"/>
              </a:rPr>
              <a:t>Любую свободную клетку можно исправить.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9EE0E-D072-4220-A929-5EA81B00B1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0a27536da4797"/>
          <a:stretch xmlns:a="http://schemas.openxmlformats.org/drawingml/2006/main"/>
        </p:blipFill>
        <p:spPr>
          <a:xfrm xmlns:a="http://schemas.openxmlformats.org/drawingml/2006/main">
            <a:off x="8343900" y="554257"/>
            <a:ext cx="2647950" cy="5730435"/>
          </a:xfrm>
          <a:prstGeom xmlns:a="http://schemas.openxmlformats.org/drawingml/2006/main" prst="roundRect">
            <a:avLst>
              <a:gd name="adj" fmla="val 6475"/>
            </a:avLst>
          </a:prstGeom>
        </p:spPr>
      </p:pic>
    </p:spTree>
    <p:extLst>
      <p:ext uri="{BB962C8B-B14F-4D97-AF65-F5344CB8AC3E}">
        <p14:creationId xmlns:p14="http://schemas.microsoft.com/office/powerpoint/2010/main" val="19331090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DD696C51-5CEF-4520-BE16-A3D997AC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Помощь без штрафа</a:t>
            </a:r>
          </a:p>
        </p:txBody>
      </p:sp>
      <p:sp>
        <p:nvSpPr>
          <p:cNvPr id="2" name="Первая подсказка">
            <a:extLst xmlns:a="http://schemas.openxmlformats.org/drawingml/2006/main">
              <a:ext uri="{FF2B5EF4-FFF2-40B4-BE49-F238E27FC236}">
                <a16:creationId xmlns:a16="http://schemas.microsoft.com/office/drawing/2014/main" id="{4FC74624-41A7-4356-AE56-0CEFA9CE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7C2D"/>
                </a:solidFill>
                <a:latin typeface="Arial"/>
                <a:ea typeface="Arial"/>
                <a:cs typeface="Arial"/>
              </a:rPr>
              <a:t>Одна буква</a:t>
            </a:r>
          </a:p>
        </p:txBody>
      </p:sp>
      <p:sp>
        <p:nvSpPr>
          <p:cNvPr id="3" name="Смысл первой подсказки">
            <a:extLst xmlns:a="http://schemas.openxmlformats.org/drawingml/2006/main">
              <a:ext uri="{FF2B5EF4-FFF2-40B4-BE49-F238E27FC236}">
                <a16:creationId xmlns:a16="http://schemas.microsoft.com/office/drawing/2014/main" id="{818779E5-4050-4280-BF62-2676DC44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E31"/>
                </a:solidFill>
                <a:latin typeface="Arial"/>
                <a:ea typeface="Arial"/>
                <a:cs typeface="Arial"/>
              </a:rPr>
              <a:t>Закрепляет новую позицию.</a:t>
            </a:r>
          </a:p>
        </p:txBody>
      </p:sp>
      <p:sp>
        <p:nvSpPr>
          <p:cNvPr id="4" name="Вторая подсказка">
            <a:extLst xmlns:a="http://schemas.openxmlformats.org/drawingml/2006/main">
              <a:ext uri="{FF2B5EF4-FFF2-40B4-BE49-F238E27FC236}">
                <a16:creationId xmlns:a16="http://schemas.microsoft.com/office/drawing/2014/main" id="{F05FCF32-0F9A-4771-AE68-BCA94D6E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Загадка</a:t>
            </a:r>
          </a:p>
        </p:txBody>
      </p:sp>
      <p:sp>
        <p:nvSpPr>
          <p:cNvPr id="5" name="Смысл второй подсказки">
            <a:extLst xmlns:a="http://schemas.openxmlformats.org/drawingml/2006/main">
              <a:ext uri="{FF2B5EF4-FFF2-40B4-BE49-F238E27FC236}">
                <a16:creationId xmlns:a16="http://schemas.microsoft.com/office/drawing/2014/main" id="{94CE3729-C89A-4EC6-8716-398D6EFD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E31"/>
                </a:solidFill>
                <a:latin typeface="Arial"/>
                <a:ea typeface="Arial"/>
                <a:cs typeface="Arial"/>
              </a:rPr>
              <a:t>Даёт смысловую улику.</a:t>
            </a:r>
          </a:p>
        </p:txBody>
      </p:sp>
      <p:sp>
        <p:nvSpPr>
          <p:cNvPr id="6" name="Третья подсказка">
            <a:extLst xmlns:a="http://schemas.openxmlformats.org/drawingml/2006/main">
              <a:ext uri="{FF2B5EF4-FFF2-40B4-BE49-F238E27FC236}">
                <a16:creationId xmlns:a16="http://schemas.microsoft.com/office/drawing/2014/main" id="{7CFD0659-767A-4C96-903A-FE0137B3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Значение</a:t>
            </a:r>
          </a:p>
        </p:txBody>
      </p:sp>
      <p:sp>
        <p:nvSpPr>
          <p:cNvPr id="7" name="Смысл третьей подсказки">
            <a:extLst xmlns:a="http://schemas.openxmlformats.org/drawingml/2006/main">
              <a:ext uri="{FF2B5EF4-FFF2-40B4-BE49-F238E27FC236}">
                <a16:creationId xmlns:a16="http://schemas.microsoft.com/office/drawing/2014/main" id="{1C30329F-891D-4B91-A4D1-08B74162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E31"/>
                </a:solidFill>
                <a:latin typeface="Arial"/>
                <a:ea typeface="Arial"/>
                <a:cs typeface="Arial"/>
              </a:rPr>
              <a:t>Объясняет слово без готового ответа.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E01F3-2953-4EF0-99FA-3A1553078A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562093dc7b4f3b"/>
          <a:stretch xmlns:a="http://schemas.openxmlformats.org/drawingml/2006/main"/>
        </p:blipFill>
        <p:spPr>
          <a:xfrm xmlns:a="http://schemas.openxmlformats.org/drawingml/2006/main">
            <a:off x="8343900" y="554257"/>
            <a:ext cx="2647950" cy="5730435"/>
          </a:xfrm>
          <a:prstGeom xmlns:a="http://schemas.openxmlformats.org/drawingml/2006/main" prst="roundRect">
            <a:avLst>
              <a:gd name="adj" fmla="val 6475"/>
            </a:avLst>
          </a:prstGeom>
        </p:spPr>
      </p:pic>
    </p:spTree>
    <p:extLst>
      <p:ext uri="{BB962C8B-B14F-4D97-AF65-F5344CB8AC3E}">
        <p14:creationId xmlns:p14="http://schemas.microsoft.com/office/powerpoint/2010/main" val="1284842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09AED3E3-0173-42FC-A6E0-4AFB18AA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Каждый раунд заканчивается</a:t>
            </a:r>
          </a:p>
          <a:p xmlns:a="http://schemas.openxmlformats.org/drawingml/2006/main">
            <a: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открытием</a:t>
            </a:r>
          </a:p>
        </p:txBody>
      </p:sp>
      <p:sp>
        <p:nvSpPr>
          <p:cNvPr id="2" name="Итог раунда">
            <a:extLst xmlns:a="http://schemas.openxmlformats.org/drawingml/2006/main">
              <a:ext uri="{FF2B5EF4-FFF2-40B4-BE49-F238E27FC236}">
                <a16:creationId xmlns:a16="http://schemas.microsoft.com/office/drawing/2014/main" id="{D825E527-AC2F-4017-8DEE-01FF93BF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666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93E31"/>
                </a:solidFill>
                <a:latin typeface="Arial"/>
                <a:ea typeface="Arial"/>
                <a:cs typeface="Arial"/>
              </a:rPr>
              <a:t>Слово, простое определение</a:t>
            </a:r>
          </a:p>
          <a:p xmlns:a="http://schemas.openxmlformats.org/drawingml/2006/main">
            <a:pPr algn="l">
              <a:defRPr sz="2400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93E31"/>
                </a:solidFill>
                <a:latin typeface="Arial"/>
                <a:ea typeface="Arial"/>
                <a:cs typeface="Arial"/>
              </a:rPr>
              <a:t>и задание для обсуждения</a:t>
            </a:r>
          </a:p>
        </p:txBody>
      </p:sp>
      <p:sp>
        <p:nvSpPr>
          <p:cNvPr id="3" name="Передача результата">
            <a:extLst xmlns:a="http://schemas.openxmlformats.org/drawingml/2006/main">
              <a:ext uri="{FF2B5EF4-FFF2-40B4-BE49-F238E27FC236}">
                <a16:creationId xmlns:a16="http://schemas.microsoft.com/office/drawing/2014/main" id="{A42FC531-E61F-414D-94FF-6B86B26C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7C2D"/>
                </a:solidFill>
                <a:latin typeface="Arial"/>
                <a:ea typeface="Arial"/>
                <a:cs typeface="Arial"/>
              </a:rPr>
              <a:t>Карточка для близких</a:t>
            </a:r>
          </a:p>
          <a:p xmlns:a="http://schemas.openxmlformats.org/drawingml/2006/main">
            <a:pPr algn="l">
              <a:defRPr sz="2325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7C2D"/>
                </a:solidFill>
                <a:latin typeface="Arial"/>
                <a:ea typeface="Arial"/>
                <a:cs typeface="Arial"/>
              </a:rPr>
              <a:t>скрывает загаданное слово</a:t>
            </a:r>
          </a:p>
        </p:txBody>
      </p:sp>
      <p:sp>
        <p:nvSpPr>
          <p:cNvPr id="4" name="Граница вывода">
            <a:extLst xmlns:a="http://schemas.openxmlformats.org/drawingml/2006/main">
              <a:ext uri="{FF2B5EF4-FFF2-40B4-BE49-F238E27FC236}">
                <a16:creationId xmlns:a16="http://schemas.microsoft.com/office/drawing/2014/main" id="{F575AAAE-DA2C-47FF-8692-1B1D20C0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76B"/>
                </a:solidFill>
                <a:latin typeface="Arial"/>
                <a:ea typeface="Arial"/>
                <a:cs typeface="Arial"/>
              </a:rPr>
              <a:t>Желание пригласить друга</a:t>
            </a:r>
          </a:p>
          <a:p xmlns:a="http://schemas.openxmlformats.org/drawingml/2006/main">
            <a:pPr algn="l">
              <a:defRPr sz="1800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76B"/>
                </a:solidFill>
                <a:latin typeface="Arial"/>
                <a:ea typeface="Arial"/>
                <a:cs typeface="Arial"/>
              </a:rPr>
              <a:t>ещё нужно проверить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E6256-D55B-4A5C-B2DF-28CD884742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821cebec4485e"/>
          <a:stretch xmlns:a="http://schemas.openxmlformats.org/drawingml/2006/main"/>
        </p:blipFill>
        <p:spPr>
          <a:xfrm xmlns:a="http://schemas.openxmlformats.org/drawingml/2006/main">
            <a:off x="8343900" y="554257"/>
            <a:ext cx="2647950" cy="5730435"/>
          </a:xfrm>
          <a:prstGeom xmlns:a="http://schemas.openxmlformats.org/drawingml/2006/main" prst="roundRect">
            <a:avLst>
              <a:gd name="adj" fmla="val 6475"/>
            </a:avLst>
          </a:prstGeom>
        </p:spPr>
      </p:pic>
    </p:spTree>
    <p:extLst>
      <p:ext uri="{BB962C8B-B14F-4D97-AF65-F5344CB8AC3E}">
        <p14:creationId xmlns:p14="http://schemas.microsoft.com/office/powerpoint/2010/main" val="14465997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1EABF911-D941-4752-9CC3-35C413E0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Статическая игра для WebView</a:t>
            </a:r>
          </a:p>
        </p:txBody>
      </p:sp>
      <p:sp>
        <p:nvSpPr>
          <p:cNvPr id="2" name="Число ответов">
            <a:extLst xmlns:a="http://schemas.openxmlformats.org/drawingml/2006/main">
              <a:ext uri="{FF2B5EF4-FFF2-40B4-BE49-F238E27FC236}">
                <a16:creationId xmlns:a16="http://schemas.microsoft.com/office/drawing/2014/main" id="{AF4BA4E5-BE06-436F-9623-7B319DCF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02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87C2D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3" name="Подпись к ответам">
            <a:extLst xmlns:a="http://schemas.openxmlformats.org/drawingml/2006/main">
              <a:ext uri="{FF2B5EF4-FFF2-40B4-BE49-F238E27FC236}">
                <a16:creationId xmlns:a16="http://schemas.microsoft.com/office/drawing/2014/main" id="{2796A971-E20D-4C43-A0DA-608D9A46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E31"/>
                </a:solidFill>
                <a:latin typeface="Arial"/>
                <a:ea typeface="Arial"/>
                <a:cs typeface="Arial"/>
              </a:rPr>
              <a:t>слов с авторскими подсказками</a:t>
            </a:r>
          </a:p>
        </p:txBody>
      </p:sp>
      <p:sp>
        <p:nvSpPr>
          <p:cNvPr id="4" name="Число догадок">
            <a:extLst xmlns:a="http://schemas.openxmlformats.org/drawingml/2006/main">
              <a:ext uri="{FF2B5EF4-FFF2-40B4-BE49-F238E27FC236}">
                <a16:creationId xmlns:a16="http://schemas.microsoft.com/office/drawing/2014/main" id="{C6DBF89B-7561-4900-8A3E-F6CDA377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187C2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87C2D"/>
                </a:solidFill>
                <a:latin typeface="Arial"/>
                <a:ea typeface="Arial"/>
                <a:cs typeface="Arial"/>
              </a:rPr>
              <a:t>680+</a:t>
            </a:r>
          </a:p>
        </p:txBody>
      </p:sp>
      <p:sp>
        <p:nvSpPr>
          <p:cNvPr id="5" name="Подпись к догадкам">
            <a:extLst xmlns:a="http://schemas.openxmlformats.org/drawingml/2006/main">
              <a:ext uri="{FF2B5EF4-FFF2-40B4-BE49-F238E27FC236}">
                <a16:creationId xmlns:a16="http://schemas.microsoft.com/office/drawing/2014/main" id="{7C0AF2A9-E548-44B4-9E38-97AF541D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E31"/>
                </a:solidFill>
                <a:latin typeface="Arial"/>
                <a:ea typeface="Arial"/>
                <a:cs typeface="Arial"/>
              </a:rPr>
              <a:t>допустимых догадок</a:t>
            </a:r>
          </a:p>
        </p:txBody>
      </p:sp>
      <p:sp>
        <p:nvSpPr>
          <p:cNvPr id="6" name="Технология">
            <a:extLst xmlns:a="http://schemas.openxmlformats.org/drawingml/2006/main">
              <a:ext uri="{FF2B5EF4-FFF2-40B4-BE49-F238E27FC236}">
                <a16:creationId xmlns:a16="http://schemas.microsoft.com/office/drawing/2014/main" id="{BF3BF116-D9DA-47C8-BB2D-F68BA28C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52625"/>
            <a:ext cx="50482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E31"/>
                </a:solidFill>
                <a:latin typeface="Arial"/>
                <a:ea typeface="Arial"/>
                <a:cs typeface="Arial"/>
              </a:rPr>
              <a:t>Собственные HTML, CSS и JavaScript.</a:t>
            </a:r>
          </a:p>
          <a:p xmlns:a="http://schemas.openxmlformats.org/drawingml/2006/main">
            <a: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E31"/>
                </a:solidFill>
                <a:latin typeface="Arial"/>
                <a:ea typeface="Arial"/>
                <a:cs typeface="Arial"/>
              </a:rPr>
              <a:t>Данные в 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E31"/>
                </a:solidFill>
                <a:latin typeface="Arial"/>
                <a:ea typeface="Arial"/>
                <a:cs typeface="Arial"/>
              </a:rPr>
              <a:t>Без аккаунта, сервера и сохранений.</a:t>
            </a:r>
          </a:p>
        </p:txBody>
      </p:sp>
      <p:sp>
        <p:nvSpPr>
          <p:cNvPr id="7" name="Статус проверки">
            <a:extLst xmlns:a="http://schemas.openxmlformats.org/drawingml/2006/main">
              <a:ext uri="{FF2B5EF4-FFF2-40B4-BE49-F238E27FC236}">
                <a16:creationId xmlns:a16="http://schemas.microsoft.com/office/drawing/2014/main" id="{633FC002-CE38-4DE1-B235-7A6F416B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3387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93E3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3E31"/>
                </a:solidFill>
                <a:latin typeface="Arial"/>
                <a:ea typeface="Arial"/>
                <a:cs typeface="Arial"/>
              </a:rPr>
              <a:t>iOS Simulator: проверено</a:t>
            </a:r>
          </a:p>
        </p:txBody>
      </p:sp>
      <p:sp>
        <p:nvSpPr>
          <p:cNvPr id="8" name="Предел проверки">
            <a:extLst xmlns:a="http://schemas.openxmlformats.org/drawingml/2006/main">
              <a:ext uri="{FF2B5EF4-FFF2-40B4-BE49-F238E27FC236}">
                <a16:creationId xmlns:a16="http://schemas.microsoft.com/office/drawing/2014/main" id="{8FFAE1E5-93E1-44A9-BC77-6B776529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72050"/>
            <a:ext cx="50958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76B"/>
                </a:solidFill>
                <a:latin typeface="Arial"/>
                <a:ea typeface="Arial"/>
                <a:cs typeface="Arial"/>
              </a:rPr>
              <a:t>Раунд, поворот, сброс и 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76B"/>
                </a:solidFill>
                <a:latin typeface="Arial"/>
                <a:ea typeface="Arial"/>
                <a:cs typeface="Arial"/>
              </a:rPr>
              <a:t>Физические телефоны и TestFlight</a:t>
            </a:r>
          </a:p>
          <a:p xmlns:a="http://schemas.openxmlformats.org/drawingml/2006/main">
            <a:pPr algn="l">
              <a:defRPr sz="1875" b="0">
                <a:solidFill>
                  <a:srgbClr val="6477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76B"/>
                </a:solidFill>
                <a:latin typeface="Arial"/>
                <a:ea typeface="Arial"/>
                <a:cs typeface="Arial"/>
              </a:rPr>
              <a:t>ещё не проверены.</a:t>
            </a:r>
          </a:p>
        </p:txBody>
      </p:sp>
    </p:spTree>
    <p:extLst>
      <p:ext uri="{BB962C8B-B14F-4D97-AF65-F5344CB8AC3E}">
        <p14:creationId xmlns:p14="http://schemas.microsoft.com/office/powerpoint/2010/main" val="17738189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2026-10-17T19:16:40.0120000Z</dcterms:created>
  <dcterms:modified xsi:type="dcterms:W3CDTF">2026-10-17T19:16:40.0120000Z</dcterms:modified>
</coreProperties>
</file>